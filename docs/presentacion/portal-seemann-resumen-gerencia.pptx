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Presentar la plataforma como un único ecosistema digital con dos caras: el portal para clientes y los portales para el equipo interno y proveedores. Visión general en 10 minutos.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Idea central: todo se apoya en la misma base de información. Lo que el proveedor carga, el equipo lo cura, y el cliente lo consume. Menos fricción y menos errores manuales.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portal de clientes es la cara pública; los internos son la trastienda operativa. Accesos totalmente separados y seguros.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Resumir sin entrar en detalle: el cliente gana autonomía y visibilidad. Cada tarjeta es un servicio que antes requería un correo o llamada al ejecutivo.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Conectar con objetivos de negocio: satisfacción del cliente, eficiencia del equipo y diferenciación frente a la competencia.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hace falta explicar cada permiso: la clave es que es un solo sistema que se adapta al rol de cada persona. Pricing y Ejecutivo pueden combinarse; el resto son exclusivos.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Mensaje general: reemplaza planillas y correos internos por un flujo ordenado. Dirección obtiene visibilidad de rentabilidad y desempeño.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 cadena es el corazón del ecosistema: una tarifa cargada por el proveedor termina en una cotización que el cliente ve en segundos. Todo trazable.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de valor antes de los próximos pasos. Repetir la idea de un solo ecosistema que beneficia a los tres actores a la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Cerrar con la frase clave: una sola plataforma digital que conecta a todos. Invitar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compl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22960"/>
            <a:ext cx="2926080" cy="111479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651760"/>
            <a:ext cx="106984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32F3E"/>
                </a:solidFill>
                <a:latin typeface="Calibri"/>
              </a:rPr>
              <a:t>Plataforma Digital Seemann Group</a:t>
            </a:r>
          </a:p>
          <a:p>
            <a:r>
              <a:rPr sz="2200" b="0">
                <a:solidFill>
                  <a:srgbClr val="FF6200"/>
                </a:solidFill>
                <a:latin typeface="Calibri"/>
              </a:rPr>
              <a:t>Un ecosistema que conecta a clientes, equipo interno y proveedores</a:t>
            </a:r>
          </a:p>
          <a:p>
            <a:r>
              <a:rPr sz="1400" b="0">
                <a:solidFill>
                  <a:srgbClr val="666E7A"/>
                </a:solidFill>
                <a:latin typeface="Calibri"/>
              </a:rPr>
              <a:t>July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FFFFFF"/>
                </a:solidFill>
                <a:latin typeface="Calibri"/>
              </a:rPr>
              <a:t>Resumen ejecutivo para gerencia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32F3E"/>
                </a:solidFill>
                <a:latin typeface="Calibri"/>
              </a:rPr>
              <a:t>El ecosistema de un vistazo</a:t>
            </a:r>
          </a:p>
          <a:p>
            <a:r>
              <a:rPr sz="1600" b="0">
                <a:solidFill>
                  <a:srgbClr val="666E7A"/>
                </a:solidFill>
                <a:latin typeface="Calibri"/>
              </a:rPr>
              <a:t>Tres actores, una sola información compartida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28800"/>
            <a:ext cx="3566160" cy="2377440"/>
          </a:xfrm>
          <a:prstGeom prst="roundRect">
            <a:avLst/>
          </a:prstGeom>
          <a:solidFill>
            <a:srgbClr val="F5F6F8"/>
          </a:solidFill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  <a:r>
              <a:rPr sz="2000" b="1">
                <a:solidFill>
                  <a:srgbClr val="FF6200"/>
                </a:solidFill>
                <a:latin typeface="Calibri"/>
              </a:rPr>
              <a:t>Clientes</a:t>
            </a:r>
          </a:p>
          <a:p>
            <a:r>
              <a:rPr sz="1400" b="0">
                <a:solidFill>
                  <a:srgbClr val="232F3E"/>
                </a:solidFill>
                <a:latin typeface="Calibri"/>
              </a:rPr>
              <a:t>Cotizan, rastrean y revisan su cuenta en línea, 24/7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828800"/>
            <a:ext cx="3566160" cy="2377440"/>
          </a:xfrm>
          <a:prstGeom prst="roundRect">
            <a:avLst/>
          </a:prstGeom>
          <a:solidFill>
            <a:srgbClr val="F5F6F8"/>
          </a:solidFill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  <a:r>
              <a:rPr sz="2000" b="1">
                <a:solidFill>
                  <a:srgbClr val="FF6200"/>
                </a:solidFill>
                <a:latin typeface="Calibri"/>
              </a:rPr>
              <a:t>Equipo Seemann</a:t>
            </a:r>
          </a:p>
          <a:p>
            <a:r>
              <a:rPr sz="1400" b="0">
                <a:solidFill>
                  <a:srgbClr val="232F3E"/>
                </a:solidFill>
                <a:latin typeface="Calibri"/>
              </a:rPr>
              <a:t>Cotiza, gestiona clientes, tarifas y reportes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92440" y="1828800"/>
            <a:ext cx="3474720" cy="2377440"/>
          </a:xfrm>
          <a:prstGeom prst="roundRect">
            <a:avLst/>
          </a:prstGeom>
          <a:solidFill>
            <a:srgbClr val="F5F6F8"/>
          </a:solidFill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  <a:r>
              <a:rPr sz="2000" b="1">
                <a:solidFill>
                  <a:srgbClr val="FF6200"/>
                </a:solidFill>
                <a:latin typeface="Calibri"/>
              </a:rPr>
              <a:t>Proveedores</a:t>
            </a:r>
          </a:p>
          <a:p>
            <a:r>
              <a:rPr sz="1400" b="0">
                <a:solidFill>
                  <a:srgbClr val="232F3E"/>
                </a:solidFill>
                <a:latin typeface="Calibri"/>
              </a:rPr>
              <a:t>Publican y actualizan sus tarifas para Seemann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5720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32F3E"/>
                </a:solidFill>
                <a:latin typeface="Calibri"/>
              </a:rPr>
              <a:t>La misma información fluye entre los tres, sin correos ni planillas sueltas.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32F3E"/>
                </a:solidFill>
                <a:latin typeface="Calibri"/>
              </a:rPr>
              <a:t>Dos portales, un propósito común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37360"/>
            <a:ext cx="5394960" cy="3383280"/>
          </a:xfrm>
          <a:prstGeom prst="roundRect">
            <a:avLst/>
          </a:prstGeom>
          <a:solidFill>
            <a:srgbClr val="F5F6F8"/>
          </a:solidFill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  <a:r>
              <a:rPr sz="2400" b="1">
                <a:solidFill>
                  <a:srgbClr val="FF6200"/>
                </a:solidFill>
                <a:latin typeface="Calibri"/>
              </a:rPr>
              <a:t>Portal de Clientes</a:t>
            </a:r>
          </a:p>
          <a:p>
            <a:r>
              <a:rPr sz="1400" b="0">
                <a:solidFill>
                  <a:srgbClr val="232F3E"/>
                </a:solidFill>
                <a:latin typeface="Calibri"/>
              </a:rPr>
              <a:t>•  Autoservicio para importadores y exportadores</a:t>
            </a:r>
          </a:p>
          <a:p>
            <a:r>
              <a:rPr sz="1400" b="0">
                <a:solidFill>
                  <a:srgbClr val="232F3E"/>
                </a:solidFill>
                <a:latin typeface="Calibri"/>
              </a:rPr>
              <a:t>•  Cotizar, rastrear envíos y ver documentos</a:t>
            </a:r>
          </a:p>
          <a:p>
            <a:r>
              <a:rPr sz="1400" b="0">
                <a:solidFill>
                  <a:srgbClr val="232F3E"/>
                </a:solidFill>
                <a:latin typeface="Calibri"/>
              </a:rPr>
              <a:t>•  Reportes financieros y operacionales</a:t>
            </a:r>
          </a:p>
          <a:p>
            <a:r>
              <a:rPr sz="1400" b="0">
                <a:solidFill>
                  <a:srgbClr val="232F3E"/>
                </a:solidFill>
                <a:latin typeface="Calibri"/>
              </a:rPr>
              <a:t>•  Asistente virtual y contacto con su ejecutivo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737360"/>
            <a:ext cx="5394960" cy="3383280"/>
          </a:xfrm>
          <a:prstGeom prst="roundRect">
            <a:avLst/>
          </a:prstGeom>
          <a:solidFill>
            <a:srgbClr val="F5F6F8"/>
          </a:solidFill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  <a:r>
              <a:rPr sz="2400" b="1">
                <a:solidFill>
                  <a:srgbClr val="FF6200"/>
                </a:solidFill>
                <a:latin typeface="Calibri"/>
              </a:rPr>
              <a:t>Portales Internos</a:t>
            </a:r>
          </a:p>
          <a:p>
            <a:r>
              <a:rPr sz="1400" b="0">
                <a:solidFill>
                  <a:srgbClr val="232F3E"/>
                </a:solidFill>
                <a:latin typeface="Calibri"/>
              </a:rPr>
              <a:t>•  Para el equipo Seemann y los proveedores</a:t>
            </a:r>
          </a:p>
          <a:p>
            <a:r>
              <a:rPr sz="1400" b="0">
                <a:solidFill>
                  <a:srgbClr val="232F3E"/>
                </a:solidFill>
                <a:latin typeface="Calibri"/>
              </a:rPr>
              <a:t>•  Cotizar y gestionar la cartera de clientes</a:t>
            </a:r>
          </a:p>
          <a:p>
            <a:r>
              <a:rPr sz="1400" b="0">
                <a:solidFill>
                  <a:srgbClr val="232F3E"/>
                </a:solidFill>
                <a:latin typeface="Calibri"/>
              </a:rPr>
              <a:t>•  Administrar tarifas y proveedores</a:t>
            </a:r>
          </a:p>
          <a:p>
            <a:r>
              <a:rPr sz="1400" b="0">
                <a:solidFill>
                  <a:srgbClr val="232F3E"/>
                </a:solidFill>
                <a:latin typeface="Calibri"/>
              </a:rPr>
              <a:t>•  Reportes de negocio y control (dirección)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32F3E"/>
                </a:solidFill>
                <a:latin typeface="Calibri"/>
              </a:rPr>
              <a:t>Portal de Clientes</a:t>
            </a:r>
          </a:p>
          <a:p>
            <a:r>
              <a:rPr sz="1600" b="0">
                <a:solidFill>
                  <a:srgbClr val="666E7A"/>
                </a:solidFill>
                <a:latin typeface="Calibri"/>
              </a:rPr>
              <a:t>Lo que el cliente puede hacer solo, sin llamar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37360"/>
            <a:ext cx="3474720" cy="1371600"/>
          </a:xfrm>
          <a:prstGeom prst="roundRect">
            <a:avLst/>
          </a:prstGeom>
          <a:solidFill>
            <a:srgbClr val="F5F6F8"/>
          </a:solidFill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  <a:r>
              <a:rPr sz="1800" b="1">
                <a:solidFill>
                  <a:srgbClr val="FF6200"/>
                </a:solidFill>
                <a:latin typeface="Calibri"/>
              </a:rPr>
              <a:t>Cotizar</a:t>
            </a:r>
          </a:p>
          <a:p>
            <a:r>
              <a:rPr sz="1300" b="0">
                <a:solidFill>
                  <a:srgbClr val="232F3E"/>
                </a:solidFill>
                <a:latin typeface="Calibri"/>
              </a:rPr>
              <a:t>Aéreo, marítimo y terrestre al instante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737360"/>
            <a:ext cx="3474720" cy="1371600"/>
          </a:xfrm>
          <a:prstGeom prst="roundRect">
            <a:avLst/>
          </a:prstGeom>
          <a:solidFill>
            <a:srgbClr val="F5F6F8"/>
          </a:solidFill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  <a:r>
              <a:rPr sz="1800" b="1">
                <a:solidFill>
                  <a:srgbClr val="FF6200"/>
                </a:solidFill>
                <a:latin typeface="Calibri"/>
              </a:rPr>
              <a:t>Rastrear</a:t>
            </a:r>
          </a:p>
          <a:p>
            <a:r>
              <a:rPr sz="1300" b="0">
                <a:solidFill>
                  <a:srgbClr val="232F3E"/>
                </a:solidFill>
                <a:latin typeface="Calibri"/>
              </a:rPr>
              <a:t>Seguimiento de envíos en tiempo real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80" y="1737360"/>
            <a:ext cx="3474720" cy="1371600"/>
          </a:xfrm>
          <a:prstGeom prst="roundRect">
            <a:avLst/>
          </a:prstGeom>
          <a:solidFill>
            <a:srgbClr val="F5F6F8"/>
          </a:solidFill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  <a:r>
              <a:rPr sz="1800" b="1">
                <a:solidFill>
                  <a:srgbClr val="FF6200"/>
                </a:solidFill>
                <a:latin typeface="Calibri"/>
              </a:rPr>
              <a:t>Documentos</a:t>
            </a:r>
          </a:p>
          <a:p>
            <a:r>
              <a:rPr sz="1300" b="0">
                <a:solidFill>
                  <a:srgbClr val="232F3E"/>
                </a:solidFill>
                <a:latin typeface="Calibri"/>
              </a:rPr>
              <a:t>Descarga directa de sus archivos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337560"/>
            <a:ext cx="3474720" cy="1371600"/>
          </a:xfrm>
          <a:prstGeom prst="roundRect">
            <a:avLst/>
          </a:prstGeom>
          <a:solidFill>
            <a:srgbClr val="F5F6F8"/>
          </a:solidFill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  <a:r>
              <a:rPr sz="1800" b="1">
                <a:solidFill>
                  <a:srgbClr val="FF6200"/>
                </a:solidFill>
                <a:latin typeface="Calibri"/>
              </a:rPr>
              <a:t>Reportes</a:t>
            </a:r>
          </a:p>
          <a:p>
            <a:r>
              <a:rPr sz="1300" b="0">
                <a:solidFill>
                  <a:srgbClr val="232F3E"/>
                </a:solidFill>
                <a:latin typeface="Calibri"/>
              </a:rPr>
              <a:t>Estado financiero y operacional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3337560"/>
            <a:ext cx="3474720" cy="1371600"/>
          </a:xfrm>
          <a:prstGeom prst="roundRect">
            <a:avLst/>
          </a:prstGeom>
          <a:solidFill>
            <a:srgbClr val="F5F6F8"/>
          </a:solidFill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  <a:r>
              <a:rPr sz="1800" b="1">
                <a:solidFill>
                  <a:srgbClr val="FF6200"/>
                </a:solidFill>
                <a:latin typeface="Calibri"/>
              </a:rPr>
              <a:t>Alertas</a:t>
            </a:r>
          </a:p>
          <a:p>
            <a:r>
              <a:rPr sz="1300" b="0">
                <a:solidFill>
                  <a:srgbClr val="232F3E"/>
                </a:solidFill>
                <a:latin typeface="Calibri"/>
              </a:rPr>
              <a:t>Avisos por cambios o retrasos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3337560"/>
            <a:ext cx="3474720" cy="1371600"/>
          </a:xfrm>
          <a:prstGeom prst="roundRect">
            <a:avLst/>
          </a:prstGeom>
          <a:solidFill>
            <a:srgbClr val="F5F6F8"/>
          </a:solidFill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  <a:r>
              <a:rPr sz="1800" b="1">
                <a:solidFill>
                  <a:srgbClr val="FF6200"/>
                </a:solidFill>
                <a:latin typeface="Calibri"/>
              </a:rPr>
              <a:t>Asistente IA</a:t>
            </a:r>
          </a:p>
          <a:p>
            <a:r>
              <a:rPr sz="1300" b="0">
                <a:solidFill>
                  <a:srgbClr val="232F3E"/>
                </a:solidFill>
                <a:latin typeface="Calibri"/>
              </a:rPr>
              <a:t>Respuestas 24/7 dentro del portal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32F3E"/>
                </a:solidFill>
                <a:latin typeface="Calibri"/>
              </a:rPr>
              <a:t>Por qué importa el Portal de Clientes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32F3E"/>
                </a:solidFill>
                <a:latin typeface="Calibri"/>
              </a:rPr>
              <a:t>•  Mejor experiencia: el cliente resuelve solo y a cualquier hora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32F3E"/>
                </a:solidFill>
                <a:latin typeface="Calibri"/>
              </a:rPr>
              <a:t>•  Menos consultas repetitivas al equipo comercial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32F3E"/>
                </a:solidFill>
                <a:latin typeface="Calibri"/>
              </a:rPr>
              <a:t>•  Imagen moderna que refuerza los +35 años de trayectoria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32F3E"/>
                </a:solidFill>
                <a:latin typeface="Calibri"/>
              </a:rPr>
              <a:t>•  Cotizaciones más rápidas, ciclo comercial más corto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32F3E"/>
                </a:solidFill>
                <a:latin typeface="Calibri"/>
              </a:rPr>
              <a:t>Portales Internos</a:t>
            </a:r>
          </a:p>
          <a:p>
            <a:r>
              <a:rPr sz="1600" b="0">
                <a:solidFill>
                  <a:srgbClr val="666E7A"/>
                </a:solidFill>
                <a:latin typeface="Calibri"/>
              </a:rPr>
              <a:t>Cinco perfiles, cada uno ve solo lo suyo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600200"/>
            <a:ext cx="5303520" cy="1188720"/>
          </a:xfrm>
          <a:prstGeom prst="roundRect">
            <a:avLst/>
          </a:prstGeom>
          <a:solidFill>
            <a:srgbClr val="F5F6F8"/>
          </a:solidFill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  <a:r>
              <a:rPr sz="1600" b="1">
                <a:solidFill>
                  <a:srgbClr val="FF6200"/>
                </a:solidFill>
                <a:latin typeface="Calibri"/>
              </a:rPr>
              <a:t>Administrador</a:t>
            </a:r>
          </a:p>
          <a:p>
            <a:r>
              <a:rPr sz="1200" b="0">
                <a:solidFill>
                  <a:srgbClr val="232F3E"/>
                </a:solidFill>
                <a:latin typeface="Calibri"/>
              </a:rPr>
              <a:t>Gobierno: usuarios, reportes y parámetros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600200"/>
            <a:ext cx="5303520" cy="1188720"/>
          </a:xfrm>
          <a:prstGeom prst="roundRect">
            <a:avLst/>
          </a:prstGeom>
          <a:solidFill>
            <a:srgbClr val="F5F6F8"/>
          </a:solidFill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  <a:r>
              <a:rPr sz="1600" b="1">
                <a:solidFill>
                  <a:srgbClr val="FF6200"/>
                </a:solidFill>
                <a:latin typeface="Calibri"/>
              </a:rPr>
              <a:t>Ejecutivo</a:t>
            </a:r>
          </a:p>
          <a:p>
            <a:r>
              <a:rPr sz="1200" b="0">
                <a:solidFill>
                  <a:srgbClr val="232F3E"/>
                </a:solidFill>
                <a:latin typeface="Calibri"/>
              </a:rPr>
              <a:t>Su cartera: clientes, cotizaciones y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971800"/>
            <a:ext cx="5303520" cy="1188720"/>
          </a:xfrm>
          <a:prstGeom prst="roundRect">
            <a:avLst/>
          </a:prstGeom>
          <a:solidFill>
            <a:srgbClr val="F5F6F8"/>
          </a:solidFill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  <a:r>
              <a:rPr sz="1600" b="1">
                <a:solidFill>
                  <a:srgbClr val="FF6200"/>
                </a:solidFill>
                <a:latin typeface="Calibri"/>
              </a:rPr>
              <a:t>Pricing</a:t>
            </a:r>
          </a:p>
          <a:p>
            <a:r>
              <a:rPr sz="1200" b="0">
                <a:solidFill>
                  <a:srgbClr val="232F3E"/>
                </a:solidFill>
                <a:latin typeface="Calibri"/>
              </a:rPr>
              <a:t>Dueño de las tarifas y los proveedores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2971800"/>
            <a:ext cx="5303520" cy="1188720"/>
          </a:xfrm>
          <a:prstGeom prst="roundRect">
            <a:avLst/>
          </a:prstGeom>
          <a:solidFill>
            <a:srgbClr val="F5F6F8"/>
          </a:solidFill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  <a:r>
              <a:rPr sz="1600" b="1">
                <a:solidFill>
                  <a:srgbClr val="FF6200"/>
                </a:solidFill>
                <a:latin typeface="Calibri"/>
              </a:rPr>
              <a:t>Operaciones</a:t>
            </a:r>
          </a:p>
          <a:p>
            <a:r>
              <a:rPr sz="1200" b="0">
                <a:solidFill>
                  <a:srgbClr val="232F3E"/>
                </a:solidFill>
                <a:latin typeface="Calibri"/>
              </a:rPr>
              <a:t>Vista global de todos los clientes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4343400"/>
            <a:ext cx="5303520" cy="1188720"/>
          </a:xfrm>
          <a:prstGeom prst="roundRect">
            <a:avLst/>
          </a:prstGeom>
          <a:solidFill>
            <a:srgbClr val="F5F6F8"/>
          </a:solidFill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  <a:r>
              <a:rPr sz="1600" b="1">
                <a:solidFill>
                  <a:srgbClr val="FF6200"/>
                </a:solidFill>
                <a:latin typeface="Calibri"/>
              </a:rPr>
              <a:t>Proveedor</a:t>
            </a:r>
          </a:p>
          <a:p>
            <a:r>
              <a:rPr sz="1200" b="0">
                <a:solidFill>
                  <a:srgbClr val="232F3E"/>
                </a:solidFill>
                <a:latin typeface="Calibri"/>
              </a:rPr>
              <a:t>Externo: publica y actualiza sus tarifas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32F3E"/>
                </a:solidFill>
                <a:latin typeface="Calibri"/>
              </a:rPr>
              <a:t>Qué resuelven los Portales Internos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737360"/>
            <a:ext cx="5303520" cy="1325880"/>
          </a:xfrm>
          <a:prstGeom prst="roundRect">
            <a:avLst/>
          </a:prstGeom>
          <a:solidFill>
            <a:srgbClr val="F5F6F8"/>
          </a:solidFill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  <a:r>
              <a:rPr sz="1800" b="1">
                <a:solidFill>
                  <a:srgbClr val="FF6200"/>
                </a:solidFill>
                <a:latin typeface="Calibri"/>
              </a:rPr>
              <a:t>Cotizar</a:t>
            </a:r>
          </a:p>
          <a:p>
            <a:r>
              <a:rPr sz="1400" b="0">
                <a:solidFill>
                  <a:srgbClr val="232F3E"/>
                </a:solidFill>
                <a:latin typeface="Calibri"/>
              </a:rPr>
              <a:t>El equipo cotiza con tarifas siempre vigentes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737360"/>
            <a:ext cx="5303520" cy="1325880"/>
          </a:xfrm>
          <a:prstGeom prst="roundRect">
            <a:avLst/>
          </a:prstGeom>
          <a:solidFill>
            <a:srgbClr val="F5F6F8"/>
          </a:solidFill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  <a:r>
              <a:rPr sz="1800" b="1">
                <a:solidFill>
                  <a:srgbClr val="FF6200"/>
                </a:solidFill>
                <a:latin typeface="Calibri"/>
              </a:rPr>
              <a:t>Clientes</a:t>
            </a:r>
          </a:p>
          <a:p>
            <a:r>
              <a:rPr sz="1400" b="0">
                <a:solidFill>
                  <a:srgbClr val="232F3E"/>
                </a:solidFill>
                <a:latin typeface="Calibri"/>
              </a:rPr>
              <a:t>Cartera y seguimiento comercial ordenados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291839"/>
            <a:ext cx="5303520" cy="1325880"/>
          </a:xfrm>
          <a:prstGeom prst="roundRect">
            <a:avLst/>
          </a:prstGeom>
          <a:solidFill>
            <a:srgbClr val="F5F6F8"/>
          </a:solidFill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  <a:r>
              <a:rPr sz="1800" b="1">
                <a:solidFill>
                  <a:srgbClr val="FF6200"/>
                </a:solidFill>
                <a:latin typeface="Calibri"/>
              </a:rPr>
              <a:t>Tarifas</a:t>
            </a:r>
          </a:p>
          <a:p>
            <a:r>
              <a:rPr sz="1400" b="0">
                <a:solidFill>
                  <a:srgbClr val="232F3E"/>
                </a:solidFill>
                <a:latin typeface="Calibri"/>
              </a:rPr>
              <a:t>Proveedores cargan y pricing publica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3291839"/>
            <a:ext cx="5303520" cy="1325880"/>
          </a:xfrm>
          <a:prstGeom prst="roundRect">
            <a:avLst/>
          </a:prstGeom>
          <a:solidFill>
            <a:srgbClr val="F5F6F8"/>
          </a:solidFill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  <a:r>
              <a:rPr sz="1800" b="1">
                <a:solidFill>
                  <a:srgbClr val="FF6200"/>
                </a:solidFill>
                <a:latin typeface="Calibri"/>
              </a:rPr>
              <a:t>Control</a:t>
            </a:r>
          </a:p>
          <a:p>
            <a:r>
              <a:rPr sz="1400" b="0">
                <a:solidFill>
                  <a:srgbClr val="232F3E"/>
                </a:solidFill>
                <a:latin typeface="Calibri"/>
              </a:rPr>
              <a:t>Reportes, auditoría y gobierno para dirección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32F3E"/>
                </a:solidFill>
                <a:latin typeface="Calibri"/>
              </a:rPr>
              <a:t>Cómo se conecta todo</a:t>
            </a:r>
          </a:p>
          <a:p>
            <a:r>
              <a:rPr sz="1600" b="0">
                <a:solidFill>
                  <a:srgbClr val="666E7A"/>
                </a:solidFill>
                <a:latin typeface="Calibri"/>
              </a:rPr>
              <a:t>Del proveedor al cliente, sin fricción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194560"/>
            <a:ext cx="2468880" cy="1645920"/>
          </a:xfrm>
          <a:prstGeom prst="roundRect">
            <a:avLst/>
          </a:prstGeom>
          <a:solidFill>
            <a:srgbClr val="F5F6F8"/>
          </a:solidFill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  <a:r>
              <a:rPr sz="1700" b="1">
                <a:solidFill>
                  <a:srgbClr val="FF6200"/>
                </a:solidFill>
                <a:latin typeface="Calibri"/>
              </a:rPr>
              <a:t>Proveedor</a:t>
            </a:r>
          </a:p>
          <a:p>
            <a:r>
              <a:rPr sz="1200" b="0">
                <a:solidFill>
                  <a:srgbClr val="232F3E"/>
                </a:solidFill>
                <a:latin typeface="Calibri"/>
              </a:rPr>
              <a:t>Carga sus tarifas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2651760"/>
            <a:ext cx="502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6200"/>
                </a:solidFill>
                <a:latin typeface="Calibri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194560"/>
            <a:ext cx="2468880" cy="1645920"/>
          </a:xfrm>
          <a:prstGeom prst="roundRect">
            <a:avLst/>
          </a:prstGeom>
          <a:solidFill>
            <a:srgbClr val="F5F6F8"/>
          </a:solidFill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  <a:r>
              <a:rPr sz="1700" b="1">
                <a:solidFill>
                  <a:srgbClr val="FF6200"/>
                </a:solidFill>
                <a:latin typeface="Calibri"/>
              </a:rPr>
              <a:t>Pricing</a:t>
            </a:r>
          </a:p>
          <a:p>
            <a:r>
              <a:rPr sz="1200" b="0">
                <a:solidFill>
                  <a:srgbClr val="232F3E"/>
                </a:solidFill>
                <a:latin typeface="Calibri"/>
              </a:rPr>
              <a:t>Revisa y publica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2651760"/>
            <a:ext cx="502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6200"/>
                </a:solidFill>
                <a:latin typeface="Calibri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79" y="2194560"/>
            <a:ext cx="2468880" cy="1645920"/>
          </a:xfrm>
          <a:prstGeom prst="roundRect">
            <a:avLst/>
          </a:prstGeom>
          <a:solidFill>
            <a:srgbClr val="F5F6F8"/>
          </a:solidFill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  <a:r>
              <a:rPr sz="1700" b="1">
                <a:solidFill>
                  <a:srgbClr val="FF6200"/>
                </a:solidFill>
                <a:latin typeface="Calibri"/>
              </a:rPr>
              <a:t>Equipo/Cliente</a:t>
            </a:r>
          </a:p>
          <a:p>
            <a:r>
              <a:rPr sz="1200" b="0">
                <a:solidFill>
                  <a:srgbClr val="232F3E"/>
                </a:solidFill>
                <a:latin typeface="Calibri"/>
              </a:rPr>
              <a:t>Cotiza al instante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23959" y="2651760"/>
            <a:ext cx="502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6200"/>
                </a:solidFill>
                <a:latin typeface="Calibr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2194560"/>
            <a:ext cx="2468880" cy="1645920"/>
          </a:xfrm>
          <a:prstGeom prst="roundRect">
            <a:avLst/>
          </a:prstGeom>
          <a:solidFill>
            <a:srgbClr val="F5F6F8"/>
          </a:solidFill>
          <a:ln>
            <a:solidFill>
              <a:srgbClr val="FF62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27000"/>
          <a:lstStyle/>
          <a:p>
            <a:pPr algn="ctr"/>
            <a:r>
              <a:rPr sz="1700" b="1">
                <a:solidFill>
                  <a:srgbClr val="FF6200"/>
                </a:solidFill>
                <a:latin typeface="Calibri"/>
              </a:rPr>
              <a:t>Operación</a:t>
            </a:r>
          </a:p>
          <a:p>
            <a:r>
              <a:rPr sz="1200" b="0">
                <a:solidFill>
                  <a:srgbClr val="232F3E"/>
                </a:solidFill>
                <a:latin typeface="Calibri"/>
              </a:rPr>
              <a:t>Se embarca y rastrea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32F3E"/>
                </a:solidFill>
                <a:latin typeface="Calibri"/>
              </a:rPr>
              <a:t>Beneficios para Seemann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32F3E"/>
                </a:solidFill>
                <a:latin typeface="Calibri"/>
              </a:rPr>
              <a:t>•  Información centralizada y consistente en todas las oficinas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32F3E"/>
                </a:solidFill>
                <a:latin typeface="Calibri"/>
              </a:rPr>
              <a:t>•  Equipos más ágiles: menos trabajo manual, más foco en el cliente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32F3E"/>
                </a:solidFill>
                <a:latin typeface="Calibri"/>
              </a:rPr>
              <a:t>•  Visibilidad para dirección: rentabilidad, desempeño y cumplimiento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32F3E"/>
                </a:solidFill>
                <a:latin typeface="Calibri"/>
              </a:rPr>
              <a:t>•  Mejor servicio al cliente y una imagen digital diferenciadora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F6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232F3E"/>
                </a:solidFill>
                <a:latin typeface="Calibri"/>
              </a:rPr>
              <a:t>En resumen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554480"/>
            <a:ext cx="109728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200"/>
              </a:spcAft>
            </a:pPr>
            <a:r>
              <a:rPr sz="2000" b="0">
                <a:solidFill>
                  <a:srgbClr val="232F3E"/>
                </a:solidFill>
                <a:latin typeface="Calibri"/>
              </a:rPr>
              <a:t>•  Un ecosistema: clientes, equipo interno y proveedores en la misma plataforma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32F3E"/>
                </a:solidFill>
                <a:latin typeface="Calibri"/>
              </a:rPr>
              <a:t>•  El cliente gana autonomía; el equipo, eficiencia; la dirección, control</a:t>
            </a:r>
          </a:p>
          <a:p>
            <a:pPr>
              <a:spcAft>
                <a:spcPts val="1200"/>
              </a:spcAft>
            </a:pPr>
            <a:r>
              <a:rPr sz="2000" b="0">
                <a:solidFill>
                  <a:srgbClr val="232F3E"/>
                </a:solidFill>
                <a:latin typeface="Calibri"/>
              </a:rPr>
              <a:t>•  Próximos pasos: impulsar adopción y capacitar a cada perfil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3280" y="4023360"/>
            <a:ext cx="5486400" cy="1737360"/>
          </a:xfrm>
          <a:prstGeom prst="round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200" b="1">
                <a:solidFill>
                  <a:srgbClr val="FFFFFF"/>
                </a:solidFill>
                <a:latin typeface="Calibri"/>
              </a:rPr>
              <a:t>¿Preguntas?</a:t>
            </a:r>
          </a:p>
          <a:p>
            <a:pPr algn="ctr"/>
            <a:r>
              <a:rPr sz="1400" b="0">
                <a:solidFill>
                  <a:srgbClr val="FF6200"/>
                </a:solidFill>
                <a:latin typeface="Calibri"/>
              </a:rPr>
              <a:t>portalclientes.seemanngroup.com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